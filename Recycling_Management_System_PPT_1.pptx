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97" r:id="rId6"/>
    <p:sldId id="267" r:id="rId7"/>
    <p:sldId id="268" r:id="rId8"/>
    <p:sldId id="269" r:id="rId9"/>
    <p:sldId id="295" r:id="rId10"/>
    <p:sldId id="276" r:id="rId11"/>
    <p:sldId id="282" r:id="rId12"/>
    <p:sldId id="301" r:id="rId13"/>
    <p:sldId id="304" r:id="rId14"/>
    <p:sldId id="305" r:id="rId15"/>
    <p:sldId id="283" r:id="rId16"/>
    <p:sldId id="284" r:id="rId17"/>
    <p:sldId id="285" r:id="rId18"/>
    <p:sldId id="286" r:id="rId19"/>
    <p:sldId id="298" r:id="rId20"/>
    <p:sldId id="300" r:id="rId21"/>
  </p:sldIdLst>
  <p:sldSz cx="12192000" cy="6858000"/>
  <p:notesSz cx="6858000" cy="9144000"/>
  <p:embeddedFontLst>
    <p:embeddedFont>
      <p:font typeface="Libre Franklin Black" pitchFamily="2" charset="0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A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7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820" y="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1524000" y="1854199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8" name="Google Shape;18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67608" y="592088"/>
            <a:ext cx="7609140" cy="1008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body" idx="1"/>
          </p:nvPr>
        </p:nvSpPr>
        <p:spPr>
          <a:xfrm>
            <a:off x="869085" y="1561876"/>
            <a:ext cx="10515600" cy="4531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dt" idx="10"/>
          </p:nvPr>
        </p:nvSpPr>
        <p:spPr>
          <a:xfrm>
            <a:off x="695400" y="6278770"/>
            <a:ext cx="16561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ftr" idx="11"/>
          </p:nvPr>
        </p:nvSpPr>
        <p:spPr>
          <a:xfrm>
            <a:off x="2567608" y="6278771"/>
            <a:ext cx="69127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" name="Google Shape;23;p1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4"/>
          <p:cNvSpPr txBox="1">
            <a:spLocks noGrp="1"/>
          </p:cNvSpPr>
          <p:nvPr>
            <p:ph type="dt" idx="10"/>
          </p:nvPr>
        </p:nvSpPr>
        <p:spPr>
          <a:xfrm>
            <a:off x="695400" y="6278770"/>
            <a:ext cx="165618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4"/>
          <p:cNvSpPr txBox="1">
            <a:spLocks noGrp="1"/>
          </p:cNvSpPr>
          <p:nvPr>
            <p:ph type="ftr" idx="11"/>
          </p:nvPr>
        </p:nvSpPr>
        <p:spPr>
          <a:xfrm>
            <a:off x="2567608" y="6278771"/>
            <a:ext cx="691276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sldNum" idx="12"/>
          </p:nvPr>
        </p:nvSpPr>
        <p:spPr>
          <a:xfrm>
            <a:off x="10272464" y="6356350"/>
            <a:ext cx="10813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"/>
          <p:cNvSpPr txBox="1"/>
          <p:nvPr/>
        </p:nvSpPr>
        <p:spPr>
          <a:xfrm>
            <a:off x="1055440" y="1700808"/>
            <a:ext cx="10696612" cy="194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solidFill>
                <a:srgbClr val="00B05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565970" y="3453831"/>
            <a:ext cx="5313719" cy="2075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B11AI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646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Muni Kiran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 AIML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B11AI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A16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Lilly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-  AIML</a:t>
            </a:r>
            <a:b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/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Google Shape;38;p1"/>
          <p:cNvSpPr txBox="1"/>
          <p:nvPr/>
        </p:nvSpPr>
        <p:spPr>
          <a:xfrm>
            <a:off x="439948" y="1595940"/>
            <a:ext cx="10696612" cy="981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 algn="ctr"/>
            <a:r>
              <a:rPr dirty="0"/>
              <a:t> </a:t>
            </a: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Recycling Management System</a:t>
            </a:r>
            <a:endParaRPr lang="en-US" sz="3200" b="1" i="0" u="none" strike="noStrike" cap="none" dirty="0">
              <a:solidFill>
                <a:srgbClr val="00B050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3633735" y="5103714"/>
            <a:ext cx="3795464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esteemed guidance of:</a:t>
            </a:r>
            <a:br>
              <a:rPr dirty="0"/>
            </a:b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D .</a:t>
            </a: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Priyanth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b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Assistant Professor (AIML) </a:t>
            </a:r>
            <a:b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2832408" y="2704174"/>
            <a:ext cx="60945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NUMBER:1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3746" y="3849817"/>
            <a:ext cx="6094562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1AI0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53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Jahnavi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 AIML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Clr>
                <a:schemeClr val="dk1"/>
              </a:buClr>
              <a:buSzPts val="1800"/>
              <a:buFont typeface="Arial" panose="020B0604020202020204"/>
              <a:buChar char="•"/>
            </a:pP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1AI0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Mokshita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 AIML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22555" y="1150702"/>
            <a:ext cx="10515600" cy="5344160"/>
          </a:xfrm>
        </p:spPr>
        <p:txBody>
          <a:bodyPr>
            <a:normAutofit fontScale="92500" lnSpcReduction="20000"/>
          </a:bodyPr>
          <a:lstStyle/>
          <a:p>
            <a:pPr marL="114300" indent="0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IN" sz="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Model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Configuration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031645" y="1064036"/>
            <a:ext cx="10515600" cy="5438364"/>
          </a:xfrm>
        </p:spPr>
        <p:txBody>
          <a:bodyPr>
            <a:normAutofit fontScale="85000" lnSpcReduction="20000"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Formulation</a:t>
            </a:r>
            <a:br>
              <a:rPr dirty="0"/>
            </a:br>
            <a:r>
              <a:rPr dirty="0"/>
              <a:t>     Recycling management generates large amounts of structured information about users, waste materials, collection requests and recycling centers.</a:t>
            </a:r>
            <a:br>
              <a:rPr dirty="0"/>
            </a:br>
            <a:r>
              <a:rPr dirty="0"/>
              <a:t>       Efficient management is difficult due to:</a:t>
            </a:r>
            <a:endParaRPr lang="en-IN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dirty="0"/>
              <a:t>Manual record maintenance</a:t>
            </a:r>
            <a:endParaRPr lang="en-IN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dirty="0"/>
              <a:t>Data redundancy</a:t>
            </a:r>
            <a:endParaRPr lang="en-IN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dirty="0"/>
              <a:t>Data inconsistency</a:t>
            </a:r>
            <a:endParaRPr lang="en-IN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dirty="0"/>
              <a:t>Difficulty tracking collection status</a:t>
            </a:r>
            <a:endParaRPr lang="en-IN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dirty="0"/>
              <a:t>Difficulty generating reports</a:t>
            </a:r>
            <a:br>
              <a:rPr dirty="0"/>
            </a:br>
            <a:r>
              <a:rPr dirty="0"/>
              <a:t>       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033556"/>
            <a:ext cx="10515600" cy="5702910"/>
          </a:xfrm>
        </p:spPr>
        <p:txBody>
          <a:bodyPr>
            <a:normAutofit fontScale="47500" lnSpcReduction="20000"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sz="5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  <a:br>
              <a:rPr dirty="0"/>
            </a:br>
            <a:r>
              <a:rPr dirty="0"/>
              <a:t>     </a:t>
            </a:r>
            <a:r>
              <a:rPr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 a database-based Recycling Management System that:</a:t>
            </a:r>
            <a:endParaRPr lang="en-IN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user and waste information</a:t>
            </a:r>
            <a:endParaRPr lang="en-IN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collection requests</a:t>
            </a:r>
            <a:endParaRPr lang="en-IN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collectors and recycling centers</a:t>
            </a:r>
            <a:endParaRPr lang="en-IN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recycling transactions</a:t>
            </a:r>
            <a:endParaRPr lang="en-IN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120000"/>
              </a:lnSpc>
              <a:buNone/>
            </a:pPr>
            <a:r>
              <a:rPr lang="en-IN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IN"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sz="4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suring</a:t>
            </a:r>
            <a:r>
              <a:rPr sz="4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4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data storage</a:t>
            </a:r>
            <a:endParaRPr lang="en-IN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redundancy</a:t>
            </a:r>
            <a:endParaRPr lang="en-IN" sz="4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4600">
                <a:latin typeface="Times New Roman" panose="02020603050405020304" pitchFamily="18" charset="0"/>
                <a:cs typeface="Times New Roman" panose="02020603050405020304" pitchFamily="18" charset="0"/>
              </a:rPr>
              <a:t>Fast </a:t>
            </a:r>
            <a:r>
              <a:rPr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of information</a:t>
            </a:r>
            <a:endParaRPr lang="en-IN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relationships between entities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888413"/>
            <a:ext cx="10515600" cy="4531419"/>
          </a:xfrm>
        </p:spPr>
        <p:txBody>
          <a:bodyPr>
            <a:normAutofit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dirty="0"/>
            </a:br>
            <a:endParaRPr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001486" y="1682159"/>
            <a:ext cx="7726795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recycling data efficiently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 and validate database records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 ER model for the recycling system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</a:t>
            </a:r>
            <a:r>
              <a:rPr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mplement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relational tables using primary and foreign keys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data redundancy through normalization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fast search, update and delete operations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data integrity and consistency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useful recycling-management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69085" y="833377"/>
            <a:ext cx="10515600" cy="584007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869085" y="1625915"/>
            <a:ext cx="5384231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Recycling Management Dataset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1500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Waste_Type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Quantity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Collection_Date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Collector_ID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Transaction_ID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/ Recycling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Type: Structured Relational Data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Records: 500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Records: 600</a:t>
            </a:r>
            <a:b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Records: 400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9085" y="982763"/>
            <a:ext cx="3532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r>
              <a:rPr dirty="0"/>
              <a:t>:</a:t>
            </a:r>
            <a:endParaRPr lang="en-IN" sz="24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979714" y="838200"/>
            <a:ext cx="4526388" cy="97246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272376" y="1559588"/>
            <a:ext cx="604427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 Performed: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required fields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records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dates and quantities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primary-key uniqueness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foreign-key references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Separated data into related entities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normalization to reduce redundancy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records for efficient SQL queries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8017" y="1055425"/>
            <a:ext cx="604245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br>
              <a:rPr dirty="0"/>
            </a:br>
            <a:endParaRPr dirty="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729160" y="1661331"/>
            <a:ext cx="9111526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br>
              <a:rPr dirty="0"/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/ Admin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Application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DBMS (MySQL)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Relational Database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Reports</a:t>
            </a:r>
            <a:br>
              <a:rPr lang="en-IN" sz="1800" dirty="0"/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Flow:</a:t>
            </a:r>
            <a:br>
              <a:rPr lang="en-IN" sz="1800" dirty="0"/>
            </a:br>
            <a:r>
              <a:rPr lang="en-IN" sz="1800" dirty="0"/>
              <a:t>→ Requirements</a:t>
            </a:r>
            <a:br>
              <a:rPr lang="en-IN" sz="1800" dirty="0"/>
            </a:br>
            <a:r>
              <a:rPr lang="en-IN" sz="1800" dirty="0"/>
              <a:t>→ ER Model</a:t>
            </a:r>
            <a:br>
              <a:rPr lang="en-IN" sz="1800" dirty="0"/>
            </a:br>
            <a:r>
              <a:rPr lang="en-IN" sz="1800" dirty="0"/>
              <a:t>→ Relational Schema</a:t>
            </a:r>
            <a:br>
              <a:rPr lang="en-IN" sz="1800" dirty="0"/>
            </a:br>
            <a:r>
              <a:rPr lang="en-IN" sz="1800" dirty="0"/>
              <a:t>→ Primary &amp; Foreign Keys</a:t>
            </a:r>
            <a:br>
              <a:rPr lang="en-IN" sz="1800" dirty="0"/>
            </a:br>
            <a:r>
              <a:rPr lang="en-IN" sz="1800" dirty="0"/>
              <a:t>→ Normalized Tables</a:t>
            </a:r>
            <a:br>
              <a:rPr lang="en-IN" sz="1800" dirty="0"/>
            </a:br>
            <a:r>
              <a:rPr lang="en-IN" sz="1800" dirty="0"/>
              <a:t>→ SQL Queries</a:t>
            </a:r>
            <a:br>
              <a:rPr lang="en-IN" sz="1800" dirty="0"/>
            </a:br>
            <a:r>
              <a:rPr lang="en-IN" sz="1800" dirty="0"/>
              <a:t>→ Reports</a:t>
            </a:r>
            <a:endParaRPr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90409" y="158000"/>
            <a:ext cx="62096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Model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019654" y="6019800"/>
            <a:ext cx="10152692" cy="680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algn="ctr"/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Entities: 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User, Collector, Collection, Recycling_Center, Waste, Transaction</a:t>
            </a:r>
          </a:p>
          <a:p>
            <a:pPr algn="ctr"/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Handles,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Contains, Processes — with 1:M cardinalities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2AB8FD-DD54-50BF-E12B-C864EA95A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681220"/>
            <a:ext cx="10287000" cy="54147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1124694" y="1111095"/>
            <a:ext cx="4381408" cy="69956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124694" y="2150000"/>
            <a:ext cx="7200000" cy="3195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dirty="0"/>
              <a:t>     </a:t>
            </a:r>
            <a:r>
              <a:rPr lang="en-IN" dirty="0"/>
              <a:t> 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List: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Submits – User → Collection_Request (1:M)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– Collector → Collection_Request (1:M)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Delivers To – Collector → Recycling_Center (1:M)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– Collection_Request → Waste (1:M)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– Collection_Request → Transaction (1:M)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– Recycling_Center → Transaction (1:M)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4694" y="1111095"/>
            <a:ext cx="6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Times New Roman"/>
              </a:rPr>
              <a:t>Attributes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124694" y="1950000"/>
          <a:ext cx="9900000" cy="4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714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Entity</a:t>
                      </a:r>
                    </a:p>
                  </a:txBody>
                  <a:tcPr marT="36000" marB="36000" anchor="ctr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Attributes (Primary Key underlined)</a:t>
                      </a:r>
                    </a:p>
                  </a:txBody>
                  <a:tcPr marT="36000" marB="36000" anchor="ctr"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14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4E79"/>
                          </a:solidFill>
                          <a:latin typeface="Times New Roman"/>
                        </a:rPr>
                        <a:t>User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u="sng">
                          <a:solidFill>
                            <a:srgbClr val="1F4E79"/>
                          </a:solidFill>
                          <a:latin typeface="Times New Roman"/>
                        </a:rPr>
                        <a:t>User_ID</a:t>
                      </a:r>
                      <a:r>
                        <a:rPr sz="1500">
                          <a:solidFill>
                            <a:srgbClr val="1F4E79"/>
                          </a:solidFill>
                          <a:latin typeface="Times New Roman"/>
                        </a:rPr>
                        <a:t>, Name, Contact_Info, Address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14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4E79"/>
                          </a:solidFill>
                          <a:latin typeface="Times New Roman"/>
                        </a:rPr>
                        <a:t>Collector</a:t>
                      </a:r>
                    </a:p>
                  </a:txBody>
                  <a:tcPr marT="36000" marB="36000" anchor="ctr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u="sng">
                          <a:solidFill>
                            <a:srgbClr val="1F4E79"/>
                          </a:solidFill>
                          <a:latin typeface="Times New Roman"/>
                        </a:rPr>
                        <a:t>Collector_ID</a:t>
                      </a:r>
                      <a:r>
                        <a:rPr sz="1500">
                          <a:solidFill>
                            <a:srgbClr val="1F4E79"/>
                          </a:solidFill>
                          <a:latin typeface="Times New Roman"/>
                        </a:rPr>
                        <a:t>, Name, Assigned_Area, Contact_Info</a:t>
                      </a:r>
                    </a:p>
                  </a:txBody>
                  <a:tcPr marT="36000" marB="36000" anchor="ctr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714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4E79"/>
                          </a:solidFill>
                          <a:latin typeface="Times New Roman"/>
                        </a:rPr>
                        <a:t>Collection_Request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u="sng">
                          <a:solidFill>
                            <a:srgbClr val="1F4E79"/>
                          </a:solidFill>
                          <a:latin typeface="Times New Roman"/>
                        </a:rPr>
                        <a:t>Request_ID</a:t>
                      </a:r>
                      <a:r>
                        <a:rPr sz="1500">
                          <a:solidFill>
                            <a:srgbClr val="1F4E79"/>
                          </a:solidFill>
                          <a:latin typeface="Times New Roman"/>
                        </a:rPr>
                        <a:t>, User_ID, Waste_Type, Requested_Date, Status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714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4E79"/>
                          </a:solidFill>
                          <a:latin typeface="Times New Roman"/>
                        </a:rPr>
                        <a:t>Waste</a:t>
                      </a:r>
                    </a:p>
                  </a:txBody>
                  <a:tcPr marT="36000" marB="36000" anchor="ctr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u="sng">
                          <a:solidFill>
                            <a:srgbClr val="1F4E79"/>
                          </a:solidFill>
                          <a:latin typeface="Times New Roman"/>
                        </a:rPr>
                        <a:t>Waste_ID</a:t>
                      </a:r>
                      <a:r>
                        <a:rPr sz="1500">
                          <a:solidFill>
                            <a:srgbClr val="1F4E79"/>
                          </a:solidFill>
                          <a:latin typeface="Times New Roman"/>
                        </a:rPr>
                        <a:t>, Waste_Type, Quantity, Category</a:t>
                      </a:r>
                    </a:p>
                  </a:txBody>
                  <a:tcPr marT="36000" marB="36000" anchor="ctr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7142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4E79"/>
                          </a:solidFill>
                          <a:latin typeface="Times New Roman"/>
                        </a:rPr>
                        <a:t>Recycling_Center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u="sng">
                          <a:solidFill>
                            <a:srgbClr val="1F4E79"/>
                          </a:solidFill>
                          <a:latin typeface="Times New Roman"/>
                        </a:rPr>
                        <a:t>Center_ID</a:t>
                      </a:r>
                      <a:r>
                        <a:rPr sz="1500">
                          <a:solidFill>
                            <a:srgbClr val="1F4E79"/>
                          </a:solidFill>
                          <a:latin typeface="Times New Roman"/>
                        </a:rPr>
                        <a:t>, Location, Capacity, Contact_Info</a:t>
                      </a:r>
                    </a:p>
                  </a:txBody>
                  <a:tcPr marT="36000" marB="36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714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F4E79"/>
                          </a:solidFill>
                          <a:latin typeface="Times New Roman"/>
                        </a:rPr>
                        <a:t>Transaction</a:t>
                      </a:r>
                    </a:p>
                  </a:txBody>
                  <a:tcPr marT="36000" marB="36000" anchor="ctr">
                    <a:solidFill>
                      <a:srgbClr val="DCE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u="sng">
                          <a:solidFill>
                            <a:srgbClr val="1F4E79"/>
                          </a:solidFill>
                          <a:latin typeface="Times New Roman"/>
                        </a:rPr>
                        <a:t>Transaction_ID</a:t>
                      </a:r>
                      <a:r>
                        <a:rPr sz="1500">
                          <a:solidFill>
                            <a:srgbClr val="1F4E79"/>
                          </a:solidFill>
                          <a:latin typeface="Times New Roman"/>
                        </a:rPr>
                        <a:t>, Collector_ID, Center_ID, Date, Quantity_Processed</a:t>
                      </a:r>
                    </a:p>
                  </a:txBody>
                  <a:tcPr marT="36000" marB="36000" anchor="ctr">
                    <a:solidFill>
                      <a:srgbClr val="DCE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19654" y="896911"/>
            <a:ext cx="62096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Configuration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019654" y="1658537"/>
            <a:ext cx="4129289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Main Tables: 6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Keys: 6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Foreign-Key Relationships: Multiple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 Up to 3NF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/>
            </a:br>
            <a:br>
              <a:rPr dirty="0"/>
            </a:b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br>
              <a:rPr dirty="0"/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table relationships reduce redundancy, maintain referential integrity and support efficient data retrieval.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12043" y="990182"/>
            <a:ext cx="62096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Metrics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012043" y="1567413"/>
            <a:ext cx="7632218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Retrieval: Fast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Redundancy: Reduced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Integrity: Maintained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Referential Integrity: Maintained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Efficiency: Improved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Consistency: High</a:t>
            </a: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Well-structured relational tables improve record retrieval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 uniquely identify records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 maintain relationships between tables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reduces repeated information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database supports reliable reporting and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5188" y="940269"/>
            <a:ext cx="13083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145188" y="2202152"/>
            <a:ext cx="878258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and waste records can be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systematically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requests can be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tracked efficiently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Collectors can be associated with collection activities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Recycling centers can be linked with processed waste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 can be recorded with proper relationships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and inconsistent records are reduced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data supports report generation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5422" y="968445"/>
            <a:ext cx="620960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80795" y="1370941"/>
            <a:ext cx="10883107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Recycling Management System provides a structured approach to managing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recycling data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the suitability of DBMS for centralized recycling operations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ER-based design clearly identifies entities, attributes and relationships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and foreign keys help maintain data integrity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 reduces redundancy and improves consistency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database forms a strong foundation for implementation using MySQL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63028" y="1002172"/>
            <a:ext cx="5232972" cy="707922"/>
          </a:xfrm>
        </p:spPr>
        <p:txBody>
          <a:bodyPr>
            <a:normAutofit fontScale="25000" lnSpcReduction="20000"/>
          </a:bodyPr>
          <a:lstStyle/>
          <a:p>
            <a:pPr marL="114300" indent="0">
              <a:lnSpc>
                <a:spcPct val="150000"/>
              </a:lnSpc>
              <a:buNone/>
            </a:pPr>
            <a:r>
              <a:rPr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br>
              <a:rPr dirty="0"/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985692" y="1710094"/>
            <a:ext cx="8614164" cy="44579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waste collection tracking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users and collectors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automated waste-category classification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dashboards for recycling statistics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QR codes for collection and transaction tracking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notifications for collection schedules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database on cloud infrastructure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IoT-based smart waste-bin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2825022" y="2705725"/>
            <a:ext cx="6541956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b="1" cap="none" dirty="0">
                <a:solidFill>
                  <a:srgbClr val="1E4E79"/>
                </a:solidFill>
                <a:latin typeface="Libre Franklin Black"/>
                <a:ea typeface="Libre Franklin Black"/>
                <a:cs typeface="Libre Franklin Black"/>
                <a:sym typeface="Libre Franklin Black"/>
              </a:rPr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0013F5A9BC3A4CB32E870EE9784523" ma:contentTypeVersion="6" ma:contentTypeDescription="Create a new document." ma:contentTypeScope="" ma:versionID="544b4e150b59bfaffe7756e466b19beb">
  <xsd:schema xmlns:xsd="http://www.w3.org/2001/XMLSchema" xmlns:xs="http://www.w3.org/2001/XMLSchema" xmlns:p="http://schemas.microsoft.com/office/2006/metadata/properties" xmlns:ns3="10260ce4-cdaf-4108-9343-32bc6789a17e" targetNamespace="http://schemas.microsoft.com/office/2006/metadata/properties" ma:root="true" ma:fieldsID="ad1e064cf3fb88a946386e7685ebd24a" ns3:_="">
    <xsd:import namespace="10260ce4-cdaf-4108-9343-32bc6789a17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260ce4-cdaf-4108-9343-32bc6789a17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260ce4-cdaf-4108-9343-32bc6789a17e" xsi:nil="true"/>
  </documentManagement>
</p:properties>
</file>

<file path=customXml/itemProps1.xml><?xml version="1.0" encoding="utf-8"?>
<ds:datastoreItem xmlns:ds="http://schemas.openxmlformats.org/officeDocument/2006/customXml" ds:itemID="{669FE8EA-3C85-41C7-ACEA-823CA859E7E6}">
  <ds:schemaRefs/>
</ds:datastoreItem>
</file>

<file path=customXml/itemProps2.xml><?xml version="1.0" encoding="utf-8"?>
<ds:datastoreItem xmlns:ds="http://schemas.openxmlformats.org/officeDocument/2006/customXml" ds:itemID="{AB33610B-CE0D-4B34-A4A5-3A0ED9879D3E}">
  <ds:schemaRefs/>
</ds:datastoreItem>
</file>

<file path=customXml/itemProps3.xml><?xml version="1.0" encoding="utf-8"?>
<ds:datastoreItem xmlns:ds="http://schemas.openxmlformats.org/officeDocument/2006/customXml" ds:itemID="{C288DD37-9A66-4CEC-917F-46CA0B0D2476}">
  <ds:schemaRefs>
    <ds:schemaRef ds:uri="10260ce4-cdaf-4108-9343-32bc6789a17e"/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901</Words>
  <Application>Microsoft Office PowerPoint</Application>
  <PresentationFormat>Widescreen</PresentationFormat>
  <Paragraphs>125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Libre Franklin Black</vt:lpstr>
      <vt:lpstr>Calibri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Recycling Management System</dc:title>
  <dc:subject>Complete DBMS project presentation based on supplied model PPT</dc:subject>
  <dc:creator>Always Cherry</dc:creator>
  <cp:lastModifiedBy>RATNALU LILLY</cp:lastModifiedBy>
  <cp:revision>19</cp:revision>
  <dcterms:created xsi:type="dcterms:W3CDTF">2019-12-14T03:50:00Z</dcterms:created>
  <dcterms:modified xsi:type="dcterms:W3CDTF">2026-08-13T14:10:34Z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0x010100420013F5A9BC3A4CB32E870EE9784523</vt:lpwstr>
  </property>
  <property fmtid="{D5CDD505-2E9C-101B-9397-08002B2CF9AE}" pid="3" name="KSOProductBuildVer">
    <vt:lpwstr>1033-12.1.0.28032</vt:lpwstr>
  </property>
  <property fmtid="{D5CDD505-2E9C-101B-9397-08002B2CF9AE}" pid="4" name="ICV">
    <vt:lpwstr>6EA011125F544FB18E68EB8672702A71_12</vt:lpwstr>
  </property>
</Properties>
</file>